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p:scale>
          <a:sx n="66" d="100"/>
          <a:sy n="66" d="100"/>
        </p:scale>
        <p:origin x="108" y="22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ai07\AppData\Roaming\Microsoft\Excel\BCG_Task1%20(version%201).xlsb"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ai07\AppData\Roaming\Microsoft\Excel\BCG_Task1%20(version%201).xlsb"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ai07\AppData\Roaming\Microsoft\Excel\BCG_Task1%20(version%201).xlsb"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[BCG_Task1 (version 1).xlsb]TASK 1!PivotTable3</c:name>
    <c:fmtId val="5"/>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circle"/>
          <c:size val="6"/>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'TASK 1'!$C$20</c:f>
              <c:strCache>
                <c:ptCount val="1"/>
                <c:pt idx="0">
                  <c:v>Total</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'TASK 1'!$B$21:$B$24</c:f>
              <c:strCache>
                <c:ptCount val="3"/>
                <c:pt idx="0">
                  <c:v>Email</c:v>
                </c:pt>
                <c:pt idx="1">
                  <c:v>Instagram</c:v>
                </c:pt>
                <c:pt idx="2">
                  <c:v>Web Banner</c:v>
                </c:pt>
              </c:strCache>
            </c:strRef>
          </c:cat>
          <c:val>
            <c:numRef>
              <c:f>'TASK 1'!$C$21:$C$24</c:f>
              <c:numCache>
                <c:formatCode>General</c:formatCode>
                <c:ptCount val="3"/>
                <c:pt idx="0">
                  <c:v>7909.3100000000049</c:v>
                </c:pt>
                <c:pt idx="1">
                  <c:v>3873.4100000000003</c:v>
                </c:pt>
                <c:pt idx="2">
                  <c:v>2876.8800000000006</c:v>
                </c:pt>
              </c:numCache>
            </c:numRef>
          </c:val>
          <c:extLst>
            <c:ext xmlns:c16="http://schemas.microsoft.com/office/drawing/2014/chart" uri="{C3380CC4-5D6E-409C-BE32-E72D297353CC}">
              <c16:uniqueId val="{00000000-D773-4166-9397-D521207ECCEE}"/>
            </c:ext>
          </c:extLst>
        </c:ser>
        <c:dLbls>
          <c:dLblPos val="inEnd"/>
          <c:showLegendKey val="0"/>
          <c:showVal val="1"/>
          <c:showCatName val="0"/>
          <c:showSerName val="0"/>
          <c:showPercent val="0"/>
          <c:showBubbleSize val="0"/>
        </c:dLbls>
        <c:gapWidth val="41"/>
        <c:axId val="1983193552"/>
        <c:axId val="1983194800"/>
      </c:barChart>
      <c:catAx>
        <c:axId val="19831935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50" b="1" i="0" u="none" strike="noStrike" kern="1200" baseline="0">
                <a:solidFill>
                  <a:schemeClr val="bg1"/>
                </a:solidFill>
                <a:effectLst/>
                <a:latin typeface="+mn-lt"/>
                <a:ea typeface="+mn-ea"/>
                <a:cs typeface="+mn-cs"/>
              </a:defRPr>
            </a:pPr>
            <a:endParaRPr lang="en-US"/>
          </a:p>
        </c:txPr>
        <c:crossAx val="1983194800"/>
        <c:crosses val="autoZero"/>
        <c:auto val="1"/>
        <c:lblAlgn val="ctr"/>
        <c:lblOffset val="100"/>
        <c:noMultiLvlLbl val="0"/>
      </c:catAx>
      <c:valAx>
        <c:axId val="1983194800"/>
        <c:scaling>
          <c:orientation val="minMax"/>
        </c:scaling>
        <c:delete val="1"/>
        <c:axPos val="l"/>
        <c:numFmt formatCode="General" sourceLinked="1"/>
        <c:majorTickMark val="none"/>
        <c:minorTickMark val="none"/>
        <c:tickLblPos val="nextTo"/>
        <c:crossAx val="198319355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50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[BCG_Task1 (version 1).xlsb]TASK 1!PivotTable2</c:name>
    <c:fmtId val="12"/>
  </c:pivotSource>
  <c:chart>
    <c:autoTitleDeleted val="1"/>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outEnd"/>
          <c:showLegendKey val="0"/>
          <c:showVal val="1"/>
          <c:showCatName val="1"/>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outEnd"/>
          <c:showLegendKey val="0"/>
          <c:showVal val="1"/>
          <c:showCatName val="1"/>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outEnd"/>
          <c:showLegendKey val="0"/>
          <c:showVal val="1"/>
          <c:showCatName val="1"/>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pieChart>
        <c:varyColors val="1"/>
        <c:ser>
          <c:idx val="0"/>
          <c:order val="0"/>
          <c:tx>
            <c:strRef>
              <c:f>'TASK 1'!$E$12</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740-472F-BDCF-AD17E99AC42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740-472F-BDCF-AD17E99AC428}"/>
              </c:ext>
            </c:extLst>
          </c:dPt>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outEnd"/>
            <c:showLegendKey val="0"/>
            <c:showVal val="1"/>
            <c:showCatName val="1"/>
            <c:showSerName val="0"/>
            <c:showPercent val="1"/>
            <c:showBubbleSize val="0"/>
            <c:showLeaderLines val="0"/>
            <c:extLst>
              <c:ext xmlns:c15="http://schemas.microsoft.com/office/drawing/2012/chart" uri="{CE6537A1-D6FC-4f65-9D91-7224C49458BB}"/>
            </c:extLst>
          </c:dLbls>
          <c:cat>
            <c:strRef>
              <c:f>'TASK 1'!$D$13:$D$15</c:f>
              <c:strCache>
                <c:ptCount val="2"/>
                <c:pt idx="0">
                  <c:v>A</c:v>
                </c:pt>
                <c:pt idx="1">
                  <c:v>B</c:v>
                </c:pt>
              </c:strCache>
            </c:strRef>
          </c:cat>
          <c:val>
            <c:numRef>
              <c:f>'TASK 1'!$E$13:$E$15</c:f>
              <c:numCache>
                <c:formatCode>0</c:formatCode>
                <c:ptCount val="2"/>
                <c:pt idx="0">
                  <c:v>5869.5600000000031</c:v>
                </c:pt>
                <c:pt idx="1">
                  <c:v>8790.0400000000045</c:v>
                </c:pt>
              </c:numCache>
            </c:numRef>
          </c:val>
          <c:extLst>
            <c:ext xmlns:c16="http://schemas.microsoft.com/office/drawing/2014/chart" uri="{C3380CC4-5D6E-409C-BE32-E72D297353CC}">
              <c16:uniqueId val="{00000004-1740-472F-BDCF-AD17E99AC428}"/>
            </c:ext>
          </c:extLst>
        </c:ser>
        <c:dLbls>
          <c:dLblPos val="bestFit"/>
          <c:showLegendKey val="0"/>
          <c:showVal val="1"/>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[BCG_Task1 (version 1).xlsb]Sheet1!PivotTable5</c:name>
    <c:fmtId val="3"/>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rgbClr val="FFFF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Sheet1!$B$3:$B$4</c:f>
              <c:strCache>
                <c:ptCount val="1"/>
                <c:pt idx="0">
                  <c:v>Email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Sheet1!$A$5:$A$7</c:f>
              <c:strCache>
                <c:ptCount val="2"/>
                <c:pt idx="0">
                  <c:v>A</c:v>
                </c:pt>
                <c:pt idx="1">
                  <c:v>B</c:v>
                </c:pt>
              </c:strCache>
            </c:strRef>
          </c:cat>
          <c:val>
            <c:numRef>
              <c:f>Sheet1!$B$5:$B$7</c:f>
              <c:numCache>
                <c:formatCode>0</c:formatCode>
                <c:ptCount val="2"/>
                <c:pt idx="0">
                  <c:v>2124.4700000000003</c:v>
                </c:pt>
                <c:pt idx="1">
                  <c:v>1382.3799999999999</c:v>
                </c:pt>
              </c:numCache>
            </c:numRef>
          </c:val>
          <c:extLst>
            <c:ext xmlns:c16="http://schemas.microsoft.com/office/drawing/2014/chart" uri="{C3380CC4-5D6E-409C-BE32-E72D297353CC}">
              <c16:uniqueId val="{00000000-C2CA-406E-8202-3AD27A4ED726}"/>
            </c:ext>
          </c:extLst>
        </c:ser>
        <c:ser>
          <c:idx val="1"/>
          <c:order val="1"/>
          <c:tx>
            <c:strRef>
              <c:f>Sheet1!$C$3:$C$4</c:f>
              <c:strCache>
                <c:ptCount val="1"/>
                <c:pt idx="0">
                  <c:v>Instagram</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Sheet1!$A$5:$A$7</c:f>
              <c:strCache>
                <c:ptCount val="2"/>
                <c:pt idx="0">
                  <c:v>A</c:v>
                </c:pt>
                <c:pt idx="1">
                  <c:v>B</c:v>
                </c:pt>
              </c:strCache>
            </c:strRef>
          </c:cat>
          <c:val>
            <c:numRef>
              <c:f>Sheet1!$C$5:$C$7</c:f>
              <c:numCache>
                <c:formatCode>0</c:formatCode>
                <c:ptCount val="2"/>
                <c:pt idx="0">
                  <c:v>969.46</c:v>
                </c:pt>
                <c:pt idx="1">
                  <c:v>416.14</c:v>
                </c:pt>
              </c:numCache>
            </c:numRef>
          </c:val>
          <c:extLst>
            <c:ext xmlns:c16="http://schemas.microsoft.com/office/drawing/2014/chart" uri="{C3380CC4-5D6E-409C-BE32-E72D297353CC}">
              <c16:uniqueId val="{00000001-C2CA-406E-8202-3AD27A4ED726}"/>
            </c:ext>
          </c:extLst>
        </c:ser>
        <c:ser>
          <c:idx val="2"/>
          <c:order val="2"/>
          <c:tx>
            <c:strRef>
              <c:f>Sheet1!$D$3:$D$4</c:f>
              <c:strCache>
                <c:ptCount val="1"/>
                <c:pt idx="0">
                  <c:v>Web Banner</c:v>
                </c:pt>
              </c:strCache>
            </c:strRef>
          </c:tx>
          <c:spPr>
            <a:solidFill>
              <a:srgbClr val="FFFF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Sheet1!$A$5:$A$7</c:f>
              <c:strCache>
                <c:ptCount val="2"/>
                <c:pt idx="0">
                  <c:v>A</c:v>
                </c:pt>
                <c:pt idx="1">
                  <c:v>B</c:v>
                </c:pt>
              </c:strCache>
            </c:strRef>
          </c:cat>
          <c:val>
            <c:numRef>
              <c:f>Sheet1!$D$5:$D$7</c:f>
              <c:numCache>
                <c:formatCode>0</c:formatCode>
                <c:ptCount val="2"/>
                <c:pt idx="0">
                  <c:v>633.06000000000006</c:v>
                </c:pt>
                <c:pt idx="1">
                  <c:v>318.92000000000007</c:v>
                </c:pt>
              </c:numCache>
            </c:numRef>
          </c:val>
          <c:extLst>
            <c:ext xmlns:c16="http://schemas.microsoft.com/office/drawing/2014/chart" uri="{C3380CC4-5D6E-409C-BE32-E72D297353CC}">
              <c16:uniqueId val="{00000002-C2CA-406E-8202-3AD27A4ED726}"/>
            </c:ext>
          </c:extLst>
        </c:ser>
        <c:dLbls>
          <c:dLblPos val="outEnd"/>
          <c:showLegendKey val="0"/>
          <c:showVal val="1"/>
          <c:showCatName val="0"/>
          <c:showSerName val="0"/>
          <c:showPercent val="0"/>
          <c:showBubbleSize val="0"/>
        </c:dLbls>
        <c:gapWidth val="219"/>
        <c:overlap val="-27"/>
        <c:axId val="855795167"/>
        <c:axId val="855805567"/>
      </c:barChart>
      <c:catAx>
        <c:axId val="855795167"/>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bg1"/>
                </a:solidFill>
                <a:latin typeface="+mn-lt"/>
                <a:ea typeface="+mn-ea"/>
                <a:cs typeface="+mn-cs"/>
              </a:defRPr>
            </a:pPr>
            <a:endParaRPr lang="en-US"/>
          </a:p>
        </c:txPr>
        <c:crossAx val="855805567"/>
        <c:crosses val="autoZero"/>
        <c:auto val="1"/>
        <c:lblAlgn val="ctr"/>
        <c:lblOffset val="100"/>
        <c:noMultiLvlLbl val="0"/>
      </c:catAx>
      <c:valAx>
        <c:axId val="855805567"/>
        <c:scaling>
          <c:orientation val="minMax"/>
        </c:scaling>
        <c:delete val="1"/>
        <c:axPos val="l"/>
        <c:numFmt formatCode="0" sourceLinked="1"/>
        <c:majorTickMark val="out"/>
        <c:minorTickMark val="none"/>
        <c:tickLblPos val="nextTo"/>
        <c:crossAx val="855795167"/>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6">
        <a:lumMod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7/12/2026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7/12/2026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4.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6.xml"/><Relationship Id="rId10" Type="http://schemas.openxmlformats.org/officeDocument/2006/relationships/image" Target="../media/image4.jpg"/><Relationship Id="rId4" Type="http://schemas.openxmlformats.org/officeDocument/2006/relationships/tags" Target="../tags/tag5.xml"/><Relationship Id="rId9"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8.png"/><Relationship Id="rId2" Type="http://schemas.openxmlformats.org/officeDocument/2006/relationships/tags" Target="../tags/tag17.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6.xml"/><Relationship Id="rId1" Type="http://schemas.openxmlformats.org/officeDocument/2006/relationships/vmlDrawing" Target="../drawings/vmlDrawing4.vml"/><Relationship Id="rId6" Type="http://schemas.openxmlformats.org/officeDocument/2006/relationships/image" Target="../media/image9.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32.xml"/><Relationship Id="rId7" Type="http://schemas.openxmlformats.org/officeDocument/2006/relationships/image" Target="../media/image2.emf"/><Relationship Id="rId2" Type="http://schemas.openxmlformats.org/officeDocument/2006/relationships/tags" Target="../tags/tag31.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slideMaster" Target="../slideMasters/slideMaster1.xml"/><Relationship Id="rId4" Type="http://schemas.openxmlformats.org/officeDocument/2006/relationships/tags" Target="../tags/tag3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2.emf"/><Relationship Id="rId3" Type="http://schemas.openxmlformats.org/officeDocument/2006/relationships/tags" Target="../tags/tag36.xml"/><Relationship Id="rId7" Type="http://schemas.openxmlformats.org/officeDocument/2006/relationships/oleObject" Target="../embeddings/oleObject5.bin"/><Relationship Id="rId2" Type="http://schemas.openxmlformats.org/officeDocument/2006/relationships/tags" Target="../tags/tag35.xml"/><Relationship Id="rId1" Type="http://schemas.openxmlformats.org/officeDocument/2006/relationships/vmlDrawing" Target="../drawings/vmlDrawing6.vml"/><Relationship Id="rId6" Type="http://schemas.openxmlformats.org/officeDocument/2006/relationships/slideMaster" Target="../slideMasters/slideMaster1.xml"/><Relationship Id="rId5" Type="http://schemas.openxmlformats.org/officeDocument/2006/relationships/tags" Target="../tags/tag38.xml"/><Relationship Id="rId10" Type="http://schemas.openxmlformats.org/officeDocument/2006/relationships/image" Target="../media/image4.jpg"/><Relationship Id="rId4" Type="http://schemas.openxmlformats.org/officeDocument/2006/relationships/tags" Target="../tags/tag37.xml"/><Relationship Id="rId9"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5.png"/><Relationship Id="rId2" Type="http://schemas.openxmlformats.org/officeDocument/2006/relationships/tags" Target="../tags/tag48.xml"/><Relationship Id="rId1" Type="http://schemas.openxmlformats.org/officeDocument/2006/relationships/vmlDrawing" Target="../drawings/vmlDrawing7.vml"/><Relationship Id="rId6" Type="http://schemas.openxmlformats.org/officeDocument/2006/relationships/image" Target="../media/image7.emf"/><Relationship Id="rId5" Type="http://schemas.openxmlformats.org/officeDocument/2006/relationships/oleObject" Target="../embeddings/oleObject3.bin"/><Relationship Id="rId4"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vmlDrawing" Target="../drawings/vmlDrawing8.vml"/><Relationship Id="rId6" Type="http://schemas.openxmlformats.org/officeDocument/2006/relationships/image" Target="../media/image9.png"/><Relationship Id="rId5" Type="http://schemas.openxmlformats.org/officeDocument/2006/relationships/image" Target="../media/image2.emf"/><Relationship Id="rId4" Type="http://schemas.openxmlformats.org/officeDocument/2006/relationships/oleObject" Target="../embeddings/oleObject3.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66.xml"/><Relationship Id="rId7" Type="http://schemas.openxmlformats.org/officeDocument/2006/relationships/image" Target="../media/image2.emf"/><Relationship Id="rId2" Type="http://schemas.openxmlformats.org/officeDocument/2006/relationships/tags" Target="../tags/tag65.xml"/><Relationship Id="rId1" Type="http://schemas.openxmlformats.org/officeDocument/2006/relationships/vmlDrawing" Target="../drawings/vmlDrawing9.v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6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vmlDrawing" Target="../drawings/vmlDrawing10.vml"/><Relationship Id="rId6" Type="http://schemas.openxmlformats.org/officeDocument/2006/relationships/image" Target="../media/image1.emf"/><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62.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3.png"/><Relationship Id="rId2" Type="http://schemas.openxmlformats.org/officeDocument/2006/relationships/tags" Target="../tags/tag73.xml"/><Relationship Id="rId1" Type="http://schemas.openxmlformats.org/officeDocument/2006/relationships/vmlDrawing" Target="../drawings/vmlDrawing13.vml"/><Relationship Id="rId6" Type="http://schemas.openxmlformats.org/officeDocument/2006/relationships/image" Target="../media/image1.emf"/><Relationship Id="rId5" Type="http://schemas.openxmlformats.org/officeDocument/2006/relationships/oleObject" Target="../embeddings/oleObject10.bin"/><Relationship Id="rId4"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vmlDrawing" Target="../drawings/vmlDrawing14.vml"/><Relationship Id="rId6" Type="http://schemas.openxmlformats.org/officeDocument/2006/relationships/image" Target="../media/image1.emf"/><Relationship Id="rId5" Type="http://schemas.openxmlformats.org/officeDocument/2006/relationships/oleObject" Target="../embeddings/oleObject11.bin"/><Relationship Id="rId4"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7.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8.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66.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image" Target="../media/image3.png"/><Relationship Id="rId2" Type="http://schemas.openxmlformats.org/officeDocument/2006/relationships/tags" Target="../tags/tag79.xml"/><Relationship Id="rId1" Type="http://schemas.openxmlformats.org/officeDocument/2006/relationships/vmlDrawing" Target="../drawings/vmlDrawing17.vml"/><Relationship Id="rId6" Type="http://schemas.openxmlformats.org/officeDocument/2006/relationships/image" Target="../media/image1.emf"/><Relationship Id="rId5" Type="http://schemas.openxmlformats.org/officeDocument/2006/relationships/oleObject" Target="../embeddings/oleObject14.bin"/><Relationship Id="rId4"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vmlDrawing" Target="../drawings/vmlDrawing18.v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15.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052"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076"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100"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124"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4"/>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6148" name="think-cell Slide" r:id="rId7" imgW="384" imgH="384" progId="TCLayout.ActiveDocument.1">
                  <p:embed/>
                </p:oleObj>
              </mc:Choice>
              <mc:Fallback>
                <p:oleObj name="think-cell Slide" r:id="rId7" imgW="384" imgH="384" progId="TCLayout.ActiveDocument.1">
                  <p:embed/>
                  <p:pic>
                    <p:nvPicPr>
                      <p:cNvPr id="0" name=""/>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9">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4"/>
            </p:custDataLst>
          </p:nvPr>
        </p:nvPicPr>
        <p:blipFill rotWithShape="1">
          <a:blip r:embed="rId10">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5"/>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72" name="think-cell Slide" r:id="rId5" imgW="324" imgH="324" progId="TCLayout.ActiveDocument.1">
                  <p:embed/>
                </p:oleObj>
              </mc:Choice>
              <mc:Fallback>
                <p:oleObj name="think-cell Slide" r:id="rId5" imgW="324" imgH="32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96" name="think-cell Slide" r:id="rId4" imgW="384" imgH="384" progId="TCLayout.ActiveDocument.1">
                  <p:embed/>
                </p:oleObj>
              </mc:Choice>
              <mc:Fallback>
                <p:oleObj name="think-cell Slide" r:id="rId4" imgW="384" imgH="38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220"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4"/>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44" name="think-cell Slide" r:id="rId5" imgW="270" imgH="270" progId="TCLayout.ActiveDocument.1">
                  <p:embed/>
                </p:oleObj>
              </mc:Choice>
              <mc:Fallback>
                <p:oleObj name="think-cell Slide"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1268"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292"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316"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340"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364"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388"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412" name="think-cell Slide" r:id="rId5" imgW="270" imgH="270" progId="TCLayout.ActiveDocument.1">
                  <p:embed/>
                </p:oleObj>
              </mc:Choice>
              <mc:Fallback>
                <p:oleObj name="think-cell Slide"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7">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3"/>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436"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vmlDrawing" Target="../drawings/vmlDrawing1.v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0"/>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28" name="think-cell Slide" r:id="rId71" imgW="270" imgH="270" progId="TCLayout.ActiveDocument.1">
                  <p:embed/>
                </p:oleObj>
              </mc:Choice>
              <mc:Fallback>
                <p:oleObj name="think-cell Slide" r:id="rId71" imgW="270" imgH="270" progId="TCLayout.ActiveDocument.1">
                  <p:embed/>
                  <p:pic>
                    <p:nvPicPr>
                      <p:cNvPr id="0" name=""/>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17.bin"/><Relationship Id="rId3" Type="http://schemas.openxmlformats.org/officeDocument/2006/relationships/tags" Target="../tags/tag83.xml"/><Relationship Id="rId7" Type="http://schemas.openxmlformats.org/officeDocument/2006/relationships/image" Target="../media/image10.emf"/><Relationship Id="rId12" Type="http://schemas.openxmlformats.org/officeDocument/2006/relationships/chart" Target="../charts/chart3.xml"/><Relationship Id="rId2" Type="http://schemas.openxmlformats.org/officeDocument/2006/relationships/tags" Target="../tags/tag82.xml"/><Relationship Id="rId1" Type="http://schemas.openxmlformats.org/officeDocument/2006/relationships/vmlDrawing" Target="../drawings/vmlDrawing19.vml"/><Relationship Id="rId6" Type="http://schemas.openxmlformats.org/officeDocument/2006/relationships/oleObject" Target="../embeddings/oleObject16.bin"/><Relationship Id="rId11" Type="http://schemas.openxmlformats.org/officeDocument/2006/relationships/chart" Target="../charts/chart2.xml"/><Relationship Id="rId5" Type="http://schemas.openxmlformats.org/officeDocument/2006/relationships/slideLayout" Target="../slideLayouts/slideLayout2.xml"/><Relationship Id="rId10" Type="http://schemas.openxmlformats.org/officeDocument/2006/relationships/chart" Target="../charts/chart1.xml"/><Relationship Id="rId4" Type="http://schemas.openxmlformats.org/officeDocument/2006/relationships/tags" Target="../tags/tag84.xml"/><Relationship Id="rId9"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19462" name="think-cell Slide" r:id="rId6" imgW="286" imgH="286" progId="TCLayout.ActiveDocument.1">
                  <p:embed/>
                </p:oleObj>
              </mc:Choice>
              <mc:Fallback>
                <p:oleObj name="think-cell Slide" r:id="rId6"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a:xfrm>
            <a:off x="630000" y="622800"/>
            <a:ext cx="10933200" cy="387798"/>
          </a:xfrm>
        </p:spPr>
        <p:txBody>
          <a:bodyPr anchor="t"/>
          <a:lstStyle/>
          <a:p>
            <a:pPr algn="ctr"/>
            <a:r>
              <a:rPr lang="en-US" sz="2800" dirty="0"/>
              <a:t>BCG  - New Co REPORT </a:t>
            </a:r>
          </a:p>
        </p:txBody>
      </p:sp>
      <p:sp>
        <p:nvSpPr>
          <p:cNvPr id="2" name="Rectangle 1">
            <a:extLst>
              <a:ext uri="{FF2B5EF4-FFF2-40B4-BE49-F238E27FC236}">
                <a16:creationId xmlns:a16="http://schemas.microsoft.com/office/drawing/2014/main" id="{477E036F-AF50-32A5-AA87-4A97F3F6A88D}"/>
              </a:ext>
            </a:extLst>
          </p:cNvPr>
          <p:cNvSpPr/>
          <p:nvPr/>
        </p:nvSpPr>
        <p:spPr>
          <a:xfrm>
            <a:off x="641671" y="5371165"/>
            <a:ext cx="10933200" cy="957888"/>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a:solidFill>
                  <a:srgbClr val="000000"/>
                </a:solidFill>
              </a:rPr>
              <a:t>Recommendation: Overall Campaign B giving Best Results but Campaign A with Email is Giving the Optimum Results followed by Instagram and Web banner. </a:t>
            </a:r>
            <a:endParaRPr lang="en-US" sz="1200" dirty="0">
              <a:solidFill>
                <a:srgbClr val="000000"/>
              </a:solidFill>
            </a:endParaRPr>
          </a:p>
        </p:txBody>
      </p:sp>
      <p:sp>
        <p:nvSpPr>
          <p:cNvPr id="8" name="Rectangle 7">
            <a:extLst>
              <a:ext uri="{FF2B5EF4-FFF2-40B4-BE49-F238E27FC236}">
                <a16:creationId xmlns:a16="http://schemas.microsoft.com/office/drawing/2014/main" id="{942B0D30-68D6-1748-728E-7FA73A5976EC}"/>
              </a:ext>
            </a:extLst>
          </p:cNvPr>
          <p:cNvSpPr/>
          <p:nvPr/>
        </p:nvSpPr>
        <p:spPr>
          <a:xfrm>
            <a:off x="838228" y="1696609"/>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Campaign Report</a:t>
            </a:r>
          </a:p>
        </p:txBody>
      </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3"/>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spid="_x0000_s19463" name="think-cell Slide" r:id="rId8" imgW="270" imgH="270" progId="TCLayout.ActiveDocument.1">
                  <p:embed/>
                </p:oleObj>
              </mc:Choice>
              <mc:Fallback>
                <p:oleObj name="think-cell Slide" r:id="rId8"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9"/>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4"/>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id="{B52E5477-8A78-817E-6DEC-CF5CD1757B04}"/>
              </a:ext>
            </a:extLst>
          </p:cNvPr>
          <p:cNvSpPr/>
          <p:nvPr/>
        </p:nvSpPr>
        <p:spPr>
          <a:xfrm>
            <a:off x="4306799" y="1719502"/>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Channel Report</a:t>
            </a:r>
          </a:p>
        </p:txBody>
      </p:sp>
      <p:sp>
        <p:nvSpPr>
          <p:cNvPr id="54" name="Rectangle 53">
            <a:extLst>
              <a:ext uri="{FF2B5EF4-FFF2-40B4-BE49-F238E27FC236}">
                <a16:creationId xmlns:a16="http://schemas.microsoft.com/office/drawing/2014/main" id="{AC2F7AF7-DC76-6C1A-0458-2264EDF24BF9}"/>
              </a:ext>
            </a:extLst>
          </p:cNvPr>
          <p:cNvSpPr/>
          <p:nvPr/>
        </p:nvSpPr>
        <p:spPr>
          <a:xfrm>
            <a:off x="7622972" y="1715577"/>
            <a:ext cx="2328814" cy="276999"/>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a:solidFill>
                  <a:srgbClr val="21BF61"/>
                </a:solidFill>
              </a:rPr>
              <a:t>New Customers Report</a:t>
            </a:r>
          </a:p>
        </p:txBody>
      </p:sp>
      <p:sp>
        <p:nvSpPr>
          <p:cNvPr id="5" name="Rectangle 4">
            <a:extLst>
              <a:ext uri="{FF2B5EF4-FFF2-40B4-BE49-F238E27FC236}">
                <a16:creationId xmlns:a16="http://schemas.microsoft.com/office/drawing/2014/main"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20" name="Chart 19">
            <a:extLst>
              <a:ext uri="{FF2B5EF4-FFF2-40B4-BE49-F238E27FC236}">
                <a16:creationId xmlns:a16="http://schemas.microsoft.com/office/drawing/2014/main" id="{784CB20A-31AE-4FB0-900C-8423E572119E}"/>
              </a:ext>
            </a:extLst>
          </p:cNvPr>
          <p:cNvGraphicFramePr>
            <a:graphicFrameLocks/>
          </p:cNvGraphicFramePr>
          <p:nvPr>
            <p:extLst>
              <p:ext uri="{D42A27DB-BD31-4B8C-83A1-F6EECF244321}">
                <p14:modId xmlns:p14="http://schemas.microsoft.com/office/powerpoint/2010/main" val="2489173483"/>
              </p:ext>
            </p:extLst>
          </p:nvPr>
        </p:nvGraphicFramePr>
        <p:xfrm>
          <a:off x="4152757" y="2175511"/>
          <a:ext cx="2765417" cy="2490677"/>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22" name="Chart 21">
            <a:extLst>
              <a:ext uri="{FF2B5EF4-FFF2-40B4-BE49-F238E27FC236}">
                <a16:creationId xmlns:a16="http://schemas.microsoft.com/office/drawing/2014/main" id="{56D3412C-EF50-4F35-8D97-EDA31A30FDEA}"/>
              </a:ext>
            </a:extLst>
          </p:cNvPr>
          <p:cNvGraphicFramePr>
            <a:graphicFrameLocks/>
          </p:cNvGraphicFramePr>
          <p:nvPr>
            <p:extLst>
              <p:ext uri="{D42A27DB-BD31-4B8C-83A1-F6EECF244321}">
                <p14:modId xmlns:p14="http://schemas.microsoft.com/office/powerpoint/2010/main" val="3890036283"/>
              </p:ext>
            </p:extLst>
          </p:nvPr>
        </p:nvGraphicFramePr>
        <p:xfrm>
          <a:off x="695959" y="2124979"/>
          <a:ext cx="2765417" cy="2541209"/>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23" name="Chart 22">
            <a:extLst>
              <a:ext uri="{FF2B5EF4-FFF2-40B4-BE49-F238E27FC236}">
                <a16:creationId xmlns:a16="http://schemas.microsoft.com/office/drawing/2014/main" id="{F70615C8-F221-45ED-93E0-7A2A12857754}"/>
              </a:ext>
            </a:extLst>
          </p:cNvPr>
          <p:cNvGraphicFramePr>
            <a:graphicFrameLocks/>
          </p:cNvGraphicFramePr>
          <p:nvPr>
            <p:extLst>
              <p:ext uri="{D42A27DB-BD31-4B8C-83A1-F6EECF244321}">
                <p14:modId xmlns:p14="http://schemas.microsoft.com/office/powerpoint/2010/main" val="1988525211"/>
              </p:ext>
            </p:extLst>
          </p:nvPr>
        </p:nvGraphicFramePr>
        <p:xfrm>
          <a:off x="7476125" y="2155067"/>
          <a:ext cx="2765417" cy="2549711"/>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137</TotalTime>
  <Words>37</Words>
  <Application>Microsoft Office PowerPoint</Application>
  <PresentationFormat>Widescreen</PresentationFormat>
  <Paragraphs>5</Paragraphs>
  <Slides>1</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6" baseType="lpstr">
      <vt:lpstr>Arial</vt:lpstr>
      <vt:lpstr>Trebuchet MS</vt:lpstr>
      <vt:lpstr>BCG Grid 16:9</vt:lpstr>
      <vt:lpstr>think-cell Slide</vt:lpstr>
      <vt:lpstr>BCG  - New Co REPORT </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BCG  - NewCO REPORT </dc:title>
  <dc:creator>Scobee, Kyle</dc:creator>
  <cp:lastModifiedBy>S S</cp:lastModifiedBy>
  <cp:revision>10</cp:revision>
  <cp:lastPrinted>2016-04-06T18:59:25Z</cp:lastPrinted>
  <dcterms:created xsi:type="dcterms:W3CDTF">2025-04-28T17:07:03Z</dcterms:created>
  <dcterms:modified xsi:type="dcterms:W3CDTF">2026-07-12T11:40:08Z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